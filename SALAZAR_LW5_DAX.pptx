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6A415-D3FD-44EA-B8DF-3B1E851D5681}" v="6" dt="2026-04-24T10:29:04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h Myra Salazar" userId="b7ad3f4b6e8cee83" providerId="LiveId" clId="{770EF6DD-D3CA-42C1-AB1A-973E281CA696}"/>
    <pc:docChg chg="undo custSel addSld delSld modSld sldOrd">
      <pc:chgData name="Dianah Myra Salazar" userId="b7ad3f4b6e8cee83" providerId="LiveId" clId="{770EF6DD-D3CA-42C1-AB1A-973E281CA696}" dt="2026-04-24T10:29:48.847" v="113" actId="14100"/>
      <pc:docMkLst>
        <pc:docMk/>
      </pc:docMkLst>
      <pc:sldChg chg="modSp mod">
        <pc:chgData name="Dianah Myra Salazar" userId="b7ad3f4b6e8cee83" providerId="LiveId" clId="{770EF6DD-D3CA-42C1-AB1A-973E281CA696}" dt="2026-04-24T10:26:18.138" v="55" actId="18131"/>
        <pc:sldMkLst>
          <pc:docMk/>
          <pc:sldMk cId="0" sldId="265"/>
        </pc:sldMkLst>
        <pc:picChg chg="mod modCrop">
          <ac:chgData name="Dianah Myra Salazar" userId="b7ad3f4b6e8cee83" providerId="LiveId" clId="{770EF6DD-D3CA-42C1-AB1A-973E281CA696}" dt="2026-04-24T10:19:39.517" v="40" actId="1038"/>
          <ac:picMkLst>
            <pc:docMk/>
            <pc:sldMk cId="0" sldId="265"/>
            <ac:picMk id="7" creationId="{00000000-0000-0000-0000-000000000000}"/>
          </ac:picMkLst>
        </pc:picChg>
        <pc:picChg chg="mod modCrop">
          <ac:chgData name="Dianah Myra Salazar" userId="b7ad3f4b6e8cee83" providerId="LiveId" clId="{770EF6DD-D3CA-42C1-AB1A-973E281CA696}" dt="2026-04-24T10:18:56.691" v="31" actId="1036"/>
          <ac:picMkLst>
            <pc:docMk/>
            <pc:sldMk cId="0" sldId="265"/>
            <ac:picMk id="11" creationId="{00000000-0000-0000-0000-000000000000}"/>
          </ac:picMkLst>
        </pc:picChg>
        <pc:picChg chg="mod modCrop">
          <ac:chgData name="Dianah Myra Salazar" userId="b7ad3f4b6e8cee83" providerId="LiveId" clId="{770EF6DD-D3CA-42C1-AB1A-973E281CA696}" dt="2026-04-24T10:26:18.138" v="55" actId="18131"/>
          <ac:picMkLst>
            <pc:docMk/>
            <pc:sldMk cId="0" sldId="265"/>
            <ac:picMk id="15" creationId="{00000000-0000-0000-0000-000000000000}"/>
          </ac:picMkLst>
        </pc:picChg>
      </pc:sldChg>
      <pc:sldChg chg="modSp mod">
        <pc:chgData name="Dianah Myra Salazar" userId="b7ad3f4b6e8cee83" providerId="LiveId" clId="{770EF6DD-D3CA-42C1-AB1A-973E281CA696}" dt="2026-04-24T10:26:01.522" v="53" actId="18131"/>
        <pc:sldMkLst>
          <pc:docMk/>
          <pc:sldMk cId="0" sldId="266"/>
        </pc:sldMkLst>
        <pc:picChg chg="mod modCrop">
          <ac:chgData name="Dianah Myra Salazar" userId="b7ad3f4b6e8cee83" providerId="LiveId" clId="{770EF6DD-D3CA-42C1-AB1A-973E281CA696}" dt="2026-04-24T10:25:23.320" v="48" actId="14100"/>
          <ac:picMkLst>
            <pc:docMk/>
            <pc:sldMk cId="0" sldId="266"/>
            <ac:picMk id="7" creationId="{00000000-0000-0000-0000-000000000000}"/>
          </ac:picMkLst>
        </pc:picChg>
        <pc:picChg chg="mod modCrop">
          <ac:chgData name="Dianah Myra Salazar" userId="b7ad3f4b6e8cee83" providerId="LiveId" clId="{770EF6DD-D3CA-42C1-AB1A-973E281CA696}" dt="2026-04-24T10:25:42.372" v="49" actId="18131"/>
          <ac:picMkLst>
            <pc:docMk/>
            <pc:sldMk cId="0" sldId="266"/>
            <ac:picMk id="11" creationId="{00000000-0000-0000-0000-000000000000}"/>
          </ac:picMkLst>
        </pc:picChg>
        <pc:picChg chg="mod modCrop">
          <ac:chgData name="Dianah Myra Salazar" userId="b7ad3f4b6e8cee83" providerId="LiveId" clId="{770EF6DD-D3CA-42C1-AB1A-973E281CA696}" dt="2026-04-24T10:26:01.522" v="53" actId="18131"/>
          <ac:picMkLst>
            <pc:docMk/>
            <pc:sldMk cId="0" sldId="266"/>
            <ac:picMk id="15" creationId="{00000000-0000-0000-0000-000000000000}"/>
          </ac:picMkLst>
        </pc:picChg>
      </pc:sldChg>
      <pc:sldChg chg="ord">
        <pc:chgData name="Dianah Myra Salazar" userId="b7ad3f4b6e8cee83" providerId="LiveId" clId="{770EF6DD-D3CA-42C1-AB1A-973E281CA696}" dt="2026-04-24T10:27:08.110" v="60"/>
        <pc:sldMkLst>
          <pc:docMk/>
          <pc:sldMk cId="0" sldId="267"/>
        </pc:sldMkLst>
      </pc:sldChg>
      <pc:sldChg chg="addSp delSp modSp del mod">
        <pc:chgData name="Dianah Myra Salazar" userId="b7ad3f4b6e8cee83" providerId="LiveId" clId="{770EF6DD-D3CA-42C1-AB1A-973E281CA696}" dt="2026-04-24T10:29:22.466" v="111" actId="47"/>
        <pc:sldMkLst>
          <pc:docMk/>
          <pc:sldMk cId="0" sldId="268"/>
        </pc:sldMkLst>
        <pc:spChg chg="add del">
          <ac:chgData name="Dianah Myra Salazar" userId="b7ad3f4b6e8cee83" providerId="LiveId" clId="{770EF6DD-D3CA-42C1-AB1A-973E281CA696}" dt="2026-04-24T10:28:30.870" v="92" actId="22"/>
          <ac:spMkLst>
            <pc:docMk/>
            <pc:sldMk cId="0" sldId="268"/>
            <ac:spMk id="17" creationId="{4E8E4A63-6702-B1F3-AD79-8AE57EB3B159}"/>
          </ac:spMkLst>
        </pc:spChg>
        <pc:picChg chg="mod modCrop">
          <ac:chgData name="Dianah Myra Salazar" userId="b7ad3f4b6e8cee83" providerId="LiveId" clId="{770EF6DD-D3CA-42C1-AB1A-973E281CA696}" dt="2026-04-24T10:26:59.146" v="57" actId="18131"/>
          <ac:picMkLst>
            <pc:docMk/>
            <pc:sldMk cId="0" sldId="268"/>
            <ac:picMk id="7" creationId="{00000000-0000-0000-0000-000000000000}"/>
          </ac:picMkLst>
        </pc:picChg>
      </pc:sldChg>
      <pc:sldChg chg="modSp mod">
        <pc:chgData name="Dianah Myra Salazar" userId="b7ad3f4b6e8cee83" providerId="LiveId" clId="{770EF6DD-D3CA-42C1-AB1A-973E281CA696}" dt="2026-04-24T10:29:48.847" v="113" actId="14100"/>
        <pc:sldMkLst>
          <pc:docMk/>
          <pc:sldMk cId="0" sldId="269"/>
        </pc:sldMkLst>
        <pc:spChg chg="mod">
          <ac:chgData name="Dianah Myra Salazar" userId="b7ad3f4b6e8cee83" providerId="LiveId" clId="{770EF6DD-D3CA-42C1-AB1A-973E281CA696}" dt="2026-04-24T10:29:48.847" v="113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4-24T10:29:48.847" v="113" actId="14100"/>
          <ac:spMkLst>
            <pc:docMk/>
            <pc:sldMk cId="0" sldId="269"/>
            <ac:spMk id="5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4-24T10:29:48.847" v="113" actId="14100"/>
          <ac:spMkLst>
            <pc:docMk/>
            <pc:sldMk cId="0" sldId="269"/>
            <ac:spMk id="6" creationId="{00000000-0000-0000-0000-000000000000}"/>
          </ac:spMkLst>
        </pc:spChg>
        <pc:picChg chg="mod">
          <ac:chgData name="Dianah Myra Salazar" userId="b7ad3f4b6e8cee83" providerId="LiveId" clId="{770EF6DD-D3CA-42C1-AB1A-973E281CA696}" dt="2026-04-24T10:29:48.847" v="113" actId="14100"/>
          <ac:picMkLst>
            <pc:docMk/>
            <pc:sldMk cId="0" sldId="269"/>
            <ac:picMk id="7" creationId="{00000000-0000-0000-0000-000000000000}"/>
          </ac:picMkLst>
        </pc:picChg>
      </pc:sldChg>
      <pc:sldChg chg="addSp delSp modSp add mod">
        <pc:chgData name="Dianah Myra Salazar" userId="b7ad3f4b6e8cee83" providerId="LiveId" clId="{770EF6DD-D3CA-42C1-AB1A-973E281CA696}" dt="2026-04-24T10:27:57.541" v="88"/>
        <pc:sldMkLst>
          <pc:docMk/>
          <pc:sldMk cId="583396916" sldId="270"/>
        </pc:sldMkLst>
        <pc:spChg chg="mod">
          <ac:chgData name="Dianah Myra Salazar" userId="b7ad3f4b6e8cee83" providerId="LiveId" clId="{770EF6DD-D3CA-42C1-AB1A-973E281CA696}" dt="2026-04-24T10:27:22.601" v="83" actId="20577"/>
          <ac:spMkLst>
            <pc:docMk/>
            <pc:sldMk cId="583396916" sldId="270"/>
            <ac:spMk id="3" creationId="{636E6111-14B9-9C41-04D0-2F904ABBC25B}"/>
          </ac:spMkLst>
        </pc:spChg>
        <pc:spChg chg="mod">
          <ac:chgData name="Dianah Myra Salazar" userId="b7ad3f4b6e8cee83" providerId="LiveId" clId="{770EF6DD-D3CA-42C1-AB1A-973E281CA696}" dt="2026-04-24T10:27:57.541" v="88"/>
          <ac:spMkLst>
            <pc:docMk/>
            <pc:sldMk cId="583396916" sldId="270"/>
            <ac:spMk id="5" creationId="{A3F14682-F647-2DF7-FBFF-4BE51F2C5755}"/>
          </ac:spMkLst>
        </pc:spChg>
        <pc:picChg chg="del">
          <ac:chgData name="Dianah Myra Salazar" userId="b7ad3f4b6e8cee83" providerId="LiveId" clId="{770EF6DD-D3CA-42C1-AB1A-973E281CA696}" dt="2026-04-24T10:27:28.926" v="84" actId="478"/>
          <ac:picMkLst>
            <pc:docMk/>
            <pc:sldMk cId="583396916" sldId="270"/>
            <ac:picMk id="7" creationId="{05310AAF-29E6-84BF-6160-D62032DDB2C9}"/>
          </ac:picMkLst>
        </pc:picChg>
        <pc:picChg chg="add mod">
          <ac:chgData name="Dianah Myra Salazar" userId="b7ad3f4b6e8cee83" providerId="LiveId" clId="{770EF6DD-D3CA-42C1-AB1A-973E281CA696}" dt="2026-04-24T10:27:36.578" v="87" actId="14100"/>
          <ac:picMkLst>
            <pc:docMk/>
            <pc:sldMk cId="583396916" sldId="270"/>
            <ac:picMk id="8" creationId="{AAD86B6B-B198-1535-0284-470C86D7F344}"/>
          </ac:picMkLst>
        </pc:picChg>
      </pc:sldChg>
      <pc:sldChg chg="addSp delSp modSp add mod">
        <pc:chgData name="Dianah Myra Salazar" userId="b7ad3f4b6e8cee83" providerId="LiveId" clId="{770EF6DD-D3CA-42C1-AB1A-973E281CA696}" dt="2026-04-24T10:28:46.278" v="102" actId="1038"/>
        <pc:sldMkLst>
          <pc:docMk/>
          <pc:sldMk cId="2910706509" sldId="271"/>
        </pc:sldMkLst>
        <pc:spChg chg="mod">
          <ac:chgData name="Dianah Myra Salazar" userId="b7ad3f4b6e8cee83" providerId="LiveId" clId="{770EF6DD-D3CA-42C1-AB1A-973E281CA696}" dt="2026-04-24T10:28:25.823" v="90"/>
          <ac:spMkLst>
            <pc:docMk/>
            <pc:sldMk cId="2910706509" sldId="271"/>
            <ac:spMk id="5" creationId="{C482E7B7-5D58-EC7D-0EE0-7A98F77D168B}"/>
          </ac:spMkLst>
        </pc:spChg>
        <pc:picChg chg="add mod">
          <ac:chgData name="Dianah Myra Salazar" userId="b7ad3f4b6e8cee83" providerId="LiveId" clId="{770EF6DD-D3CA-42C1-AB1A-973E281CA696}" dt="2026-04-24T10:28:46.278" v="102" actId="1038"/>
          <ac:picMkLst>
            <pc:docMk/>
            <pc:sldMk cId="2910706509" sldId="271"/>
            <ac:picMk id="7" creationId="{33872947-4EA2-20F7-1A4F-F7A3FB665C07}"/>
          </ac:picMkLst>
        </pc:picChg>
        <pc:picChg chg="del">
          <ac:chgData name="Dianah Myra Salazar" userId="b7ad3f4b6e8cee83" providerId="LiveId" clId="{770EF6DD-D3CA-42C1-AB1A-973E281CA696}" dt="2026-04-24T10:28:34.845" v="93" actId="478"/>
          <ac:picMkLst>
            <pc:docMk/>
            <pc:sldMk cId="2910706509" sldId="271"/>
            <ac:picMk id="8" creationId="{28F277EB-9262-42A6-F916-A04CF1783AD7}"/>
          </ac:picMkLst>
        </pc:picChg>
      </pc:sldChg>
      <pc:sldChg chg="addSp delSp modSp add mod">
        <pc:chgData name="Dianah Myra Salazar" userId="b7ad3f4b6e8cee83" providerId="LiveId" clId="{770EF6DD-D3CA-42C1-AB1A-973E281CA696}" dt="2026-04-24T10:29:17.362" v="110" actId="1037"/>
        <pc:sldMkLst>
          <pc:docMk/>
          <pc:sldMk cId="985903037" sldId="272"/>
        </pc:sldMkLst>
        <pc:spChg chg="mod">
          <ac:chgData name="Dianah Myra Salazar" userId="b7ad3f4b6e8cee83" providerId="LiveId" clId="{770EF6DD-D3CA-42C1-AB1A-973E281CA696}" dt="2026-04-24T10:28:59.129" v="104"/>
          <ac:spMkLst>
            <pc:docMk/>
            <pc:sldMk cId="985903037" sldId="272"/>
            <ac:spMk id="5" creationId="{AE51B831-E614-BABE-B9AD-00494484CAD9}"/>
          </ac:spMkLst>
        </pc:spChg>
        <pc:picChg chg="del">
          <ac:chgData name="Dianah Myra Salazar" userId="b7ad3f4b6e8cee83" providerId="LiveId" clId="{770EF6DD-D3CA-42C1-AB1A-973E281CA696}" dt="2026-04-24T10:29:04.160" v="105" actId="478"/>
          <ac:picMkLst>
            <pc:docMk/>
            <pc:sldMk cId="985903037" sldId="272"/>
            <ac:picMk id="7" creationId="{5E64ADA3-EE2E-2AC4-015E-4DCF9C74E2E6}"/>
          </ac:picMkLst>
        </pc:picChg>
        <pc:picChg chg="add mod">
          <ac:chgData name="Dianah Myra Salazar" userId="b7ad3f4b6e8cee83" providerId="LiveId" clId="{770EF6DD-D3CA-42C1-AB1A-973E281CA696}" dt="2026-04-24T10:29:17.362" v="110" actId="1037"/>
          <ac:picMkLst>
            <pc:docMk/>
            <pc:sldMk cId="985903037" sldId="272"/>
            <ac:picMk id="8" creationId="{AB822C67-44C5-BE09-35C8-F3430D27C9D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27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EA67-C40F-8EC7-D21A-C418E7CE6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4BFA7-5495-3895-751E-FAB89326F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2371B-C7CD-7BA3-E4CD-6CB51FA9A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DB681-9527-6B66-80B6-BF9D5E7B9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99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A3AB6-3BB6-7F65-55CE-A0C06BDC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DF6D1-230E-8F41-4962-B81EA8ABA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D5E87-E1B9-4D9F-AE32-FA4B827FF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CF702-2097-D9DC-DC59-BA1C21CB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77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F3AB-8325-08F9-EFB1-ABA65029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B3624-D0EE-CA86-B716-8E4020054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661DD2-785B-7A7C-949E-9CD2538C4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AB431-CF0D-EA3A-7773-2FC5D34D5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00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4594860"/>
            <a:ext cx="2743200" cy="548640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A89D"/>
                </a:solidFill>
              </a:rPr>
              <a:t>IS107 Laboratory Work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Applying DAX Fundamentals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in Power BI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CBD9"/>
                </a:solidFill>
              </a:rPr>
              <a:t>From Measures to Contextual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6451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Submitted by: [Your Name] | Power BI Desktop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645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LW5 |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Model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50292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" y="1536192"/>
            <a:ext cx="54864" cy="23774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49047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Customer 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103120"/>
            <a:ext cx="54864" cy="23774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20574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670048"/>
            <a:ext cx="54864" cy="23774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26243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Address / State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3236976"/>
            <a:ext cx="54864" cy="23774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" y="31912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Phone, Zip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3803904"/>
            <a:ext cx="54864" cy="23774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375818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Notes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9144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914400"/>
            <a:ext cx="265176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Orders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55848" y="1536192"/>
            <a:ext cx="54864" cy="237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02152" y="149047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Order ID / Customer 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55848" y="2103120"/>
            <a:ext cx="54864" cy="237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02152" y="20574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Product, Units Sold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55848" y="2670048"/>
            <a:ext cx="54864" cy="237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02152" y="26243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Date, Revenue, Cost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3236976"/>
            <a:ext cx="54864" cy="237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02152" y="31912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Profit, Day of week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3803904"/>
            <a:ext cx="54864" cy="23774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02152" y="375818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Has Chocolate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914400"/>
            <a:ext cx="26517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914400"/>
            <a:ext cx="2651760" cy="502920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914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Cookie Types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81928" y="1536192"/>
            <a:ext cx="54864" cy="237744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28232" y="149047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Cookie Type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81928" y="2103120"/>
            <a:ext cx="54864" cy="237744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28232" y="20574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Units Sold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2670048"/>
            <a:ext cx="54864" cy="237744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28232" y="2624328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Revenue Per Cookie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81928" y="3236976"/>
            <a:ext cx="54864" cy="237744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28232" y="31912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</a:rPr>
              <a:t>Cost Per Cookie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7A8A"/>
                </a:solidFill>
              </a:rPr>
              <a:t>📌  Cookie Types → Orders (1:*) · Customers → Orders (1:*)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I. Foundational Concepts — Q1 &amp; Q2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8404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 — Excel Formula vs. DAX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</a:rPr>
              <a:t>For me, </a:t>
            </a:r>
            <a:r>
              <a:rPr lang="en-US" sz="1150" b="1" dirty="0">
                <a:solidFill>
                  <a:srgbClr val="1A2E4A"/>
                </a:solidFill>
              </a:rPr>
              <a:t>Excel formulas </a:t>
            </a:r>
            <a:r>
              <a:rPr lang="en-US" sz="1150" dirty="0">
                <a:solidFill>
                  <a:srgbClr val="1A2E4A"/>
                </a:solidFill>
              </a:rPr>
              <a:t>are static — they compute one cell at a time and don't travel across related tables. </a:t>
            </a:r>
            <a:r>
              <a:rPr lang="en-US" sz="1150" b="1" dirty="0">
                <a:solidFill>
                  <a:srgbClr val="1A2E4A"/>
                </a:solidFill>
              </a:rPr>
              <a:t>DAX </a:t>
            </a:r>
            <a:r>
              <a:rPr lang="en-US" sz="1150" dirty="0">
                <a:solidFill>
                  <a:srgbClr val="1A2E4A"/>
                </a:solidFill>
              </a:rPr>
              <a:t>is a formula language built for </a:t>
            </a:r>
            <a:r>
              <a:rPr lang="en-US" sz="1150" b="1" dirty="0">
                <a:solidFill>
                  <a:srgbClr val="1A2E4A"/>
                </a:solidFill>
              </a:rPr>
              <a:t>relational data models</a:t>
            </a:r>
            <a:r>
              <a:rPr lang="en-US" sz="1150" dirty="0">
                <a:solidFill>
                  <a:srgbClr val="1A2E4A"/>
                </a:solidFill>
              </a:rPr>
              <a:t>. My thought is that DAX understands table relationships, automatically aggregates across millions of rows, and re-evaluates the moment a filter or slicer changes — something a plain Excel SUM formula simply cannot do. While Excel calculates a cell value, DAX calculates a </a:t>
            </a:r>
            <a:r>
              <a:rPr lang="en-US" sz="1150" b="1" dirty="0">
                <a:solidFill>
                  <a:srgbClr val="0D7C7C"/>
                </a:solidFill>
              </a:rPr>
              <a:t>context-aware result</a:t>
            </a:r>
            <a:r>
              <a:rPr lang="en-US" sz="1150" dirty="0">
                <a:solidFill>
                  <a:srgbClr val="1A2E4A"/>
                </a:solidFill>
              </a:rPr>
              <a:t>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6908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822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 — The Why of DAX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61872"/>
            <a:ext cx="3749040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</a:rPr>
              <a:t>Raw numbers alone can't answer questions like </a:t>
            </a:r>
            <a:r>
              <a:rPr lang="en-US" sz="1150" i="1" dirty="0">
                <a:solidFill>
                  <a:srgbClr val="0D7C7C"/>
                </a:solidFill>
              </a:rPr>
              <a:t>"What is my profit margin per cookie type for orders above 500 units?" </a:t>
            </a:r>
            <a:r>
              <a:rPr lang="en-US" sz="1150" dirty="0">
                <a:solidFill>
                  <a:srgbClr val="1A2E4A"/>
                </a:solidFill>
              </a:rPr>
              <a:t>In my view, the gap DAX fills is </a:t>
            </a:r>
            <a:r>
              <a:rPr lang="en-US" sz="1150" b="1" dirty="0">
                <a:solidFill>
                  <a:srgbClr val="1A2E4A"/>
                </a:solidFill>
              </a:rPr>
              <a:t>dynamic aggregation with context</a:t>
            </a:r>
            <a:r>
              <a:rPr lang="en-US" sz="1150" dirty="0">
                <a:solidFill>
                  <a:srgbClr val="1A2E4A"/>
                </a:solidFill>
              </a:rPr>
              <a:t>. The data in our </a:t>
            </a:r>
            <a:r>
              <a:rPr lang="en-US" sz="1150" b="1" dirty="0">
                <a:solidFill>
                  <a:srgbClr val="1A2E4A"/>
                </a:solidFill>
              </a:rPr>
              <a:t>Orders</a:t>
            </a:r>
            <a:r>
              <a:rPr lang="en-US" sz="1150" dirty="0">
                <a:solidFill>
                  <a:srgbClr val="1A2E4A"/>
                </a:solidFill>
              </a:rPr>
              <a:t> table is flat — it has Revenue and Cost per row, but no formula tells Power BI </a:t>
            </a:r>
            <a:r>
              <a:rPr lang="en-US" sz="1150" b="1" dirty="0">
                <a:solidFill>
                  <a:srgbClr val="1A2E4A"/>
                </a:solidFill>
              </a:rPr>
              <a:t>how to sum, filter, or relate </a:t>
            </a:r>
            <a:r>
              <a:rPr lang="en-US" sz="1150" dirty="0">
                <a:solidFill>
                  <a:srgbClr val="1A2E4A"/>
                </a:solidFill>
              </a:rPr>
              <a:t>them to Cookie Types or Customers. DAX bridges that gap by letting us define reusable logic (Measures) that respond to every visual and filter on the canvas.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II. Calculated Columns vs. Measures — Q3 &amp; Q4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45920" cy="640080"/>
          </a:xfrm>
          <a:prstGeom prst="rect">
            <a:avLst/>
          </a:prstGeom>
          <a:solidFill>
            <a:srgbClr val="1A2E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65960" y="868680"/>
            <a:ext cx="3200400" cy="640080"/>
          </a:xfrm>
          <a:prstGeom prst="rect">
            <a:avLst/>
          </a:prstGeom>
          <a:solidFill>
            <a:srgbClr val="0D7C7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65960" y="868680"/>
            <a:ext cx="3200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Calculated Column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66360" y="868680"/>
            <a:ext cx="3200400" cy="640080"/>
          </a:xfrm>
          <a:prstGeom prst="rect">
            <a:avLst/>
          </a:prstGeom>
          <a:solidFill>
            <a:srgbClr val="12A89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66360" y="868680"/>
            <a:ext cx="32004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Measure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1645920" cy="640080"/>
          </a:xfrm>
          <a:prstGeom prst="rect">
            <a:avLst/>
          </a:prstGeom>
          <a:solidFill>
            <a:srgbClr val="D4E6F1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Storage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1508760"/>
            <a:ext cx="3200400" cy="64008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9112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Stored in the model — increases .pbix file size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66360" y="1508760"/>
            <a:ext cx="3200400" cy="64008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Computed on the fly — no extra storage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1645920" cy="640080"/>
          </a:xfrm>
          <a:prstGeom prst="rect">
            <a:avLst/>
          </a:prstGeom>
          <a:solidFill>
            <a:srgbClr val="D4E6F1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3192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21488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39112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Row-by-row at refresh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66360" y="214884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Evaluated per visual / filter context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1645920" cy="640080"/>
          </a:xfrm>
          <a:prstGeom prst="rect">
            <a:avLst/>
          </a:prstGeom>
          <a:solidFill>
            <a:srgbClr val="D4E6F1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Best for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65960" y="2788920"/>
            <a:ext cx="3200400" cy="64008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39112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Row-level flags (e.g. Has Chocolate)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66360" y="2788920"/>
            <a:ext cx="3200400" cy="640080"/>
          </a:xfrm>
          <a:prstGeom prst="rect">
            <a:avLst/>
          </a:prstGeom>
          <a:solidFill>
            <a:srgbClr val="EBF5FB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39512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Aggregations (Sum, Count, %)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429000"/>
            <a:ext cx="1645920" cy="640080"/>
          </a:xfrm>
          <a:prstGeom prst="rect">
            <a:avLst/>
          </a:prstGeom>
          <a:solidFill>
            <a:srgbClr val="D4E6F1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3192" y="342900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</a:rPr>
              <a:t>Example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65960" y="342900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39112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Day of week, Has Chocolate column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66360" y="3429000"/>
            <a:ext cx="3200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429000"/>
            <a:ext cx="3108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4A"/>
                </a:solidFill>
              </a:rPr>
              <a:t>Total Profit, Count of orders, Profit Margin 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493008"/>
            <a:ext cx="8503920" cy="1463040"/>
          </a:xfrm>
          <a:prstGeom prst="rect">
            <a:avLst/>
          </a:prstGeom>
          <a:solidFill>
            <a:srgbClr val="EAF6F6"/>
          </a:solidFill>
          <a:ln w="12700">
            <a:solidFill>
              <a:srgbClr val="0D7C7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3493008"/>
            <a:ext cx="73152" cy="146304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5295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7C"/>
                </a:solidFill>
              </a:rPr>
              <a:t>Q4 — How Filter Context Affects a Measure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3858768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</a:rPr>
              <a:t>My thoughts: In my dashboard, when no filter is active, "Count of orders" shows 700 (total). The moment I click a customer row — say ACME Bites — the filter context narrows the evaluation space and the measure instantly returns 206. DAX's CALCULATE function is at the heart of this: it re-evaluates the measure expression inside a modified filter context, making every card, chart, and table automatically reactive to slicers and cross-highlights.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III. Function Application &amp; Syntax — Q5 &amp; Q6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38404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Q5 — The RELATED Function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E4A"/>
                </a:solidFill>
              </a:rPr>
              <a:t>For me, RELATED </a:t>
            </a:r>
            <a:r>
              <a:rPr lang="en-US" sz="1150" dirty="0">
                <a:solidFill>
                  <a:srgbClr val="1A2E4A"/>
                </a:solidFill>
              </a:rPr>
              <a:t>is the bridge between tables. When I was building the </a:t>
            </a:r>
            <a:r>
              <a:rPr lang="en-US" sz="1150" b="1" i="1" dirty="0">
                <a:solidFill>
                  <a:srgbClr val="1A2E4A"/>
                </a:solidFill>
              </a:rPr>
              <a:t>Has Chocolate </a:t>
            </a:r>
            <a:r>
              <a:rPr lang="en-US" sz="1150" dirty="0">
                <a:solidFill>
                  <a:srgbClr val="1A2E4A"/>
                </a:solidFill>
              </a:rPr>
              <a:t>calculated column inside </a:t>
            </a:r>
            <a:r>
              <a:rPr lang="en-US" sz="1150" b="1" dirty="0">
                <a:solidFill>
                  <a:srgbClr val="1A2E4A"/>
                </a:solidFill>
              </a:rPr>
              <a:t>Orders</a:t>
            </a:r>
            <a:r>
              <a:rPr lang="en-US" sz="1150" dirty="0">
                <a:solidFill>
                  <a:srgbClr val="1A2E4A"/>
                </a:solidFill>
              </a:rPr>
              <a:t>, I needed to look up whether the product belonged to a chocolate category in </a:t>
            </a:r>
            <a:r>
              <a:rPr lang="en-US" sz="1150" b="1" dirty="0">
                <a:solidFill>
                  <a:srgbClr val="1A2E4A"/>
                </a:solidFill>
              </a:rPr>
              <a:t>Cookie Types</a:t>
            </a:r>
            <a:r>
              <a:rPr lang="en-US" sz="1150" dirty="0">
                <a:solidFill>
                  <a:srgbClr val="1A2E4A"/>
                </a:solidFill>
              </a:rPr>
              <a:t>. RELATED follows the established relationship to fetch a value from the related table — but it only works when a </a:t>
            </a:r>
            <a:r>
              <a:rPr lang="en-US" sz="1150" b="1" dirty="0">
                <a:solidFill>
                  <a:srgbClr val="1A2E4A"/>
                </a:solidFill>
              </a:rPr>
              <a:t>one-to-many relationship </a:t>
            </a:r>
            <a:r>
              <a:rPr lang="en-US" sz="1150" dirty="0">
                <a:solidFill>
                  <a:srgbClr val="1A2E4A"/>
                </a:solidFill>
              </a:rPr>
              <a:t>has been defined in the </a:t>
            </a:r>
            <a:r>
              <a:rPr lang="en-US" sz="1150" b="1" dirty="0">
                <a:solidFill>
                  <a:srgbClr val="1A2E4A"/>
                </a:solidFill>
              </a:rPr>
              <a:t>Model View</a:t>
            </a:r>
            <a:r>
              <a:rPr lang="en-US" sz="1150" dirty="0">
                <a:solidFill>
                  <a:srgbClr val="1A2E4A"/>
                </a:solidFill>
              </a:rPr>
              <a:t>. Without that relationship, DAX has no path to traverse and RELATED returns an error. In our model, Cookie Types (1) → Orders (*) via Product enables this lookup.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69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069080" cy="3840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822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Q6 — Deconstructing the Formula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261872"/>
            <a:ext cx="3886200" cy="457200"/>
          </a:xfrm>
          <a:prstGeom prst="rect">
            <a:avLst/>
          </a:prstGeom>
          <a:solidFill>
            <a:srgbClr val="1A2E4A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261872"/>
            <a:ext cx="3794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F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SUM(Sales[Sales Amount])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7C"/>
                </a:solidFill>
              </a:rPr>
              <a:t>Measure Name: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</a:rPr>
              <a:t>Total Sales — descriptive, unique identifier for the KPI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92040" y="23042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7C"/>
                </a:solidFill>
              </a:rPr>
              <a:t>Function: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30428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</a:rPr>
              <a:t>SUM( ) — DAX aggregation function; iterates every row in scope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77977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7C"/>
                </a:solidFill>
              </a:rPr>
              <a:t>Table: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277977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</a:rPr>
              <a:t>Sales — explicitly scopes the column lookup to avoid ambiguity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25526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7C"/>
                </a:solidFill>
              </a:rPr>
              <a:t>Column: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325526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</a:rPr>
              <a:t>[Sales Amount] — the specific field being aggregated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7307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C7C"/>
                </a:solidFill>
              </a:rPr>
              <a:t>Best Practice: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73075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</a:rPr>
              <a:t>Always prefix with the table name (Table[Column]) so DAX can resolve columns unambiguously across multiple tables — especially critical in our 3-table model.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Visual Results — Key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365760"/>
          </a:xfrm>
          <a:prstGeom prst="rect">
            <a:avLst/>
          </a:prstGeom>
          <a:solidFill>
            <a:srgbClr val="0D7C7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Units Sold by Customer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ABC Groceries: 221,023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ACME Bites: 329,677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Park &amp; Shop: 179,448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Tres Delicious: 128,769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2494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Wholesome: 266,890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054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C7C"/>
                </a:solidFill>
              </a:rPr>
              <a:t>TOTAL: 1,125,806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82296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72968" y="822960"/>
            <a:ext cx="2788920" cy="365760"/>
          </a:xfrm>
          <a:prstGeom prst="rect">
            <a:avLst/>
          </a:prstGeom>
          <a:solidFill>
            <a:srgbClr val="0D7C7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72968" y="822960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Count of Orders by Customer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64408" y="12252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ABC Groceries: 132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64408" y="14813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ACME Bites: 206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64408" y="17373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Park &amp; Shop: 114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64408" y="19933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Tres Delicious: 92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22494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Wholesome Foods: 156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64408" y="25054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C7C"/>
                </a:solidFill>
              </a:rPr>
              <a:t>TOTAL: 700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71616" y="82296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71616" y="822960"/>
            <a:ext cx="2788920" cy="365760"/>
          </a:xfrm>
          <a:prstGeom prst="rect">
            <a:avLst/>
          </a:prstGeom>
          <a:solidFill>
            <a:srgbClr val="0D7C7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71616" y="822960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Profit Margin % by Cookie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3056" y="12252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Choc Chip: 60.00%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63056" y="14813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Fortune Cookie: 50.00%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63056" y="173736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Oatmeal Raisin: 56.00%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63056" y="19933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Snickerdoodle: 62.50%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63056" y="224942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Sugar: 58.33%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63056" y="25054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C7C"/>
                </a:solidFill>
              </a:rPr>
              <a:t>TOTAL: 57.93%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9718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2971800"/>
            <a:ext cx="278892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2971800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Total Profit (Card)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3741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C7C"/>
                </a:solidFill>
              </a:rPr>
              <a:t>Total Profit 2: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2,717,064.38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38862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142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Revenue – Cost = Profit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3982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Across all customers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6542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&amp; all cookie types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2968" y="29718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172968" y="2971800"/>
            <a:ext cx="278892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72968" y="2971800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Choc Chip Orders &gt; 500 units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64408" y="33741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Count: 185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64408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64408" y="38862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DAX CALCULATE used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64408" y="4142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with FILTER condition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64408" y="43982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Units Sold &gt; 500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64408" y="46542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on Chocolate Chip rows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71616" y="29718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071616" y="2971800"/>
            <a:ext cx="2788920" cy="365760"/>
          </a:xfrm>
          <a:prstGeom prst="rect">
            <a:avLst/>
          </a:prstGeom>
          <a:solidFill>
            <a:srgbClr val="1A2E4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71616" y="2971800"/>
            <a:ext cx="278892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Distinct Customers / Profit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63056" y="33741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Each customer: 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63056" y="36301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unique buyer (5 total)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63056" y="38862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C7C"/>
                </a:solidFill>
              </a:rPr>
              <a:t>Total Profit: 2,717,070.50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63056" y="414223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Revenue – Cost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63056" y="439826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confirmed equal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163056" y="465429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across all rows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IV. Analysis &amp; Troubleshooting — Q7 &amp; Q8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73152" cy="201168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7C"/>
                </a:solidFill>
              </a:rPr>
              <a:t>Q7 — Negative Total Profit: Broken Formula or Business Insight?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E4A"/>
                </a:solidFill>
              </a:rPr>
              <a:t>My thoughts: A negative Total Profit figure does NOT mean the DAX formula is broken. For me, it means the formula is working exactly as designed — it's telling me that for that specific category, costs exceeded revenue. The data is the problem, not the logic. To verify: (1) Cross-check the Revenue and Cost columns in the raw Orders table for that category. (2) Confirm the Profit calculated column formula is correct: Profit = Revenue – Cost. (3) Check if there are data-entry errors (e.g. reversed Revenue/Cost values). In our actual results, all profits were positive (Total Profit 2 = 2,717,064.38), which confirms the formula is healthy and the business is profitable across all segments.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8503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971800"/>
            <a:ext cx="73152" cy="1965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990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Q8 — Profit Margin %: Calculated Column vs. Measure — Which is More Efficient?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355848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</a:rPr>
              <a:t>A single Measure is far more efficient. For me, creating a Calculated Column for Profit Margin % would compute and store a value for every one of the 700 rows in our Orders table — bloating file size and recalculating at every model refresh. My thought is that a Measure defined as: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</a:rPr>
              <a:t>Profit Margin % = DIVIDE(SUM(Orders[Profit]), SUM(Orders[Revenue]))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2E4A"/>
                </a:solidFill>
              </a:rPr>
              <a:t>...computes nothing until a visual requests it, and then it computes only the aggregated result scoped to the current filter context. This is both memory-efficient and dynamically correct — if I slice by Cookie Type, the measure automatically re-evaluates for just that subset, while a calculated column would require rebuilding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4389120"/>
            <a:ext cx="2743200" cy="754380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74320" cy="347472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EDF9"/>
                </a:solidFill>
              </a:rPr>
              <a:t>DAX operates on relational models with context-awareness — not just static cell math.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517904"/>
            <a:ext cx="274320" cy="347472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1790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51790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EDF9"/>
                </a:solidFill>
              </a:rPr>
              <a:t>Calculated Columns store row-level data and grow the file; Measures are on-demand and storage-lean.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029968"/>
            <a:ext cx="274320" cy="347472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0299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0299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EDF9"/>
                </a:solidFill>
              </a:rPr>
              <a:t>Filter Context is what makes a Measure dynamic — the same formula yields different results per visual.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542032"/>
            <a:ext cx="274320" cy="347472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5420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EDF9"/>
                </a:solidFill>
              </a:rPr>
              <a:t>RELATED() requires established model relationships to bridge tables in column formulas.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3054096"/>
            <a:ext cx="274320" cy="347472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5409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05409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EDF9"/>
                </a:solidFill>
              </a:rPr>
              <a:t>Profit Margin % is best built as a Measure for efficiency and dynamic filtering.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566160"/>
            <a:ext cx="274320" cy="347472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5661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566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EDF9"/>
                </a:solidFill>
              </a:rPr>
              <a:t>Unexpected results (negatives) indicate business data issues — not broken DAX logic.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IS107 LW5 · DAX in Power BI · 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4389120"/>
            <a:ext cx="2743200" cy="754380"/>
          </a:xfrm>
          <a:prstGeom prst="rect">
            <a:avLst/>
          </a:prstGeom>
          <a:solidFill>
            <a:srgbClr val="12A89D"/>
          </a:solidFill>
          <a:ln w="12700">
            <a:solidFill>
              <a:srgbClr val="12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Appendix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ECBD9"/>
                </a:solidFill>
              </a:rPr>
              <a:t>Visual Outputs &amp; Screenshots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89D"/>
                </a:solidFill>
              </a:rPr>
              <a:t>A: </a:t>
            </a:r>
            <a:r>
              <a:rPr lang="en-US" sz="1400" dirty="0">
                <a:solidFill>
                  <a:srgbClr val="D4EDF9"/>
                </a:solidFill>
              </a:rPr>
              <a:t>Power BI Dashboard Visuals  </a:t>
            </a:r>
            <a:r>
              <a:rPr lang="en-US" sz="1400" dirty="0">
                <a:solidFill>
                  <a:srgbClr val="5D7A8A"/>
                </a:solidFill>
              </a:rPr>
              <a:t>  |  </a:t>
            </a:r>
            <a:r>
              <a:rPr lang="en-US" sz="1400" b="1" dirty="0">
                <a:solidFill>
                  <a:srgbClr val="12A89D"/>
                </a:solidFill>
              </a:rPr>
              <a:t>B: </a:t>
            </a:r>
            <a:r>
              <a:rPr lang="en-US" sz="1400" dirty="0">
                <a:solidFill>
                  <a:srgbClr val="D4EDF9"/>
                </a:solidFill>
              </a:rPr>
              <a:t>Data Tables  </a:t>
            </a:r>
            <a:r>
              <a:rPr lang="en-US" sz="1400" dirty="0">
                <a:solidFill>
                  <a:srgbClr val="5D7A8A"/>
                </a:solidFill>
              </a:rPr>
              <a:t>  |  </a:t>
            </a:r>
            <a:r>
              <a:rPr lang="en-US" sz="1400" b="1" dirty="0">
                <a:solidFill>
                  <a:srgbClr val="12A89D"/>
                </a:solidFill>
              </a:rPr>
              <a:t>C: </a:t>
            </a:r>
            <a:r>
              <a:rPr lang="en-US" sz="1400" dirty="0">
                <a:solidFill>
                  <a:srgbClr val="D4EDF9"/>
                </a:solidFill>
              </a:rPr>
              <a:t>Model Relationship Diagram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IS107 LW5 · DAX in Power BI ·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 A — Dashboard Visuals (1/2)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788920" cy="2926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Number of Units Sold by Customer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950976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3264" t="12430" r="47037" b="27401"/>
          <a:stretch>
            <a:fillRect/>
          </a:stretch>
        </p:blipFill>
        <p:spPr>
          <a:xfrm>
            <a:off x="255270" y="1060704"/>
            <a:ext cx="2693670" cy="3831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54680" y="658368"/>
            <a:ext cx="2788920" cy="2926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54680" y="658368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Count of Orders by Customer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54680" y="950976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1412" r="44272"/>
          <a:stretch>
            <a:fillRect/>
          </a:stretch>
        </p:blipFill>
        <p:spPr>
          <a:xfrm>
            <a:off x="3177540" y="1060704"/>
            <a:ext cx="2743200" cy="3831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80760" y="658368"/>
            <a:ext cx="2788920" cy="2926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80760" y="658368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Profit Margin % by Cookie Type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80760" y="950976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1" r="46363"/>
          <a:stretch>
            <a:fillRect/>
          </a:stretch>
        </p:blipFill>
        <p:spPr>
          <a:xfrm>
            <a:off x="6126480" y="1005840"/>
            <a:ext cx="26974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 A — Dashboard Visuals (2/2)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78892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Distinct Customers, Total Profit &amp; Revenue minus Cost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950976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1" t="-1411" r="45793" b="31176"/>
          <a:stretch>
            <a:fillRect/>
          </a:stretch>
        </p:blipFill>
        <p:spPr>
          <a:xfrm>
            <a:off x="274320" y="950976"/>
            <a:ext cx="2682240" cy="39410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54680" y="658368"/>
            <a:ext cx="278892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54680" y="658368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Total Profit 2 (Card Visual)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154680" y="950976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r="48770"/>
          <a:stretch>
            <a:fillRect/>
          </a:stretch>
        </p:blipFill>
        <p:spPr>
          <a:xfrm>
            <a:off x="3200400" y="1005840"/>
            <a:ext cx="2697480" cy="3886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80760" y="658368"/>
            <a:ext cx="278892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080760" y="658368"/>
            <a:ext cx="27889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Sum of Day of Week by Day of Week (Bar Chart)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80760" y="950976"/>
            <a:ext cx="2788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1" r="52799"/>
          <a:stretch>
            <a:fillRect/>
          </a:stretch>
        </p:blipFill>
        <p:spPr>
          <a:xfrm>
            <a:off x="6126480" y="1005840"/>
            <a:ext cx="26974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 A — Dashboard Visuals (3/3)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Chocolate Chip Orders with over 500 Units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950976"/>
            <a:ext cx="6400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005840"/>
            <a:ext cx="6309360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FF788-2A16-9765-9AF0-2F25F5F6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5DAC80-DABE-2090-52BB-04BBF2DB8DD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6E6111-14B9-9C41-04D0-2F904ABBC25B}"/>
              </a:ext>
            </a:extLst>
          </p:cNvPr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 </a:t>
            </a:r>
            <a:r>
              <a:rPr lang="en-US" b="1" dirty="0">
                <a:solidFill>
                  <a:srgbClr val="FFFFFF"/>
                </a:solidFill>
              </a:rPr>
              <a:t>B</a:t>
            </a:r>
            <a:r>
              <a:rPr lang="en-US" sz="1800" b="1" dirty="0">
                <a:solidFill>
                  <a:srgbClr val="FFFFFF"/>
                </a:solidFill>
              </a:rPr>
              <a:t> — </a:t>
            </a:r>
            <a:r>
              <a:rPr lang="en-US" b="1" dirty="0">
                <a:solidFill>
                  <a:srgbClr val="FFFFFF"/>
                </a:solidFill>
              </a:rPr>
              <a:t>Data Tables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400B60-6631-53F9-509B-85A616F81992}"/>
              </a:ext>
            </a:extLst>
          </p:cNvPr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F14682-F647-2DF7-FBFF-4BE51F2C5755}"/>
              </a:ext>
            </a:extLst>
          </p:cNvPr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Orders Table — Raw Data View (700 rows)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FE1403C-4869-70A3-16EA-548A103316B4}"/>
              </a:ext>
            </a:extLst>
          </p:cNvPr>
          <p:cNvSpPr/>
          <p:nvPr/>
        </p:nvSpPr>
        <p:spPr>
          <a:xfrm>
            <a:off x="1371600" y="950976"/>
            <a:ext cx="6400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AD86B6B-B198-1535-0284-470C86D7F3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82"/>
          <a:stretch>
            <a:fillRect/>
          </a:stretch>
        </p:blipFill>
        <p:spPr>
          <a:xfrm>
            <a:off x="1432560" y="1005840"/>
            <a:ext cx="633984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96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1EE60-A7D2-A993-CD53-CF71F987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23E80A-ABB4-0FD0-FF1F-2277DCA57783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783C9A-40C1-5C95-C3EC-A47979DD4295}"/>
              </a:ext>
            </a:extLst>
          </p:cNvPr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 </a:t>
            </a:r>
            <a:r>
              <a:rPr lang="en-US" b="1" dirty="0">
                <a:solidFill>
                  <a:srgbClr val="FFFFFF"/>
                </a:solidFill>
              </a:rPr>
              <a:t>B</a:t>
            </a:r>
            <a:r>
              <a:rPr lang="en-US" sz="1800" b="1" dirty="0">
                <a:solidFill>
                  <a:srgbClr val="FFFFFF"/>
                </a:solidFill>
              </a:rPr>
              <a:t> — </a:t>
            </a:r>
            <a:r>
              <a:rPr lang="en-US" b="1" dirty="0">
                <a:solidFill>
                  <a:srgbClr val="FFFFFF"/>
                </a:solidFill>
              </a:rPr>
              <a:t>Data Tables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624C36-2B96-661D-1EF2-8D6E8D4366D2}"/>
              </a:ext>
            </a:extLst>
          </p:cNvPr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82E7B7-5D58-EC7D-0EE0-7A98F77D168B}"/>
              </a:ext>
            </a:extLst>
          </p:cNvPr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Cookie Types Table — Data View (6 rows)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15EE592-5154-C3A4-107E-CEFB67CF1A66}"/>
              </a:ext>
            </a:extLst>
          </p:cNvPr>
          <p:cNvSpPr/>
          <p:nvPr/>
        </p:nvSpPr>
        <p:spPr>
          <a:xfrm>
            <a:off x="1371600" y="950976"/>
            <a:ext cx="6400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3872947-4EA2-20F7-1A4F-F7A3FB665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005840"/>
            <a:ext cx="629412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06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D7783-AB7A-0DB0-E428-E5DA9662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B39899-09E7-1869-6F53-BC50900221BE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47762A-69C5-B6F0-B97F-EC17E6DFFEAC}"/>
              </a:ext>
            </a:extLst>
          </p:cNvPr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 </a:t>
            </a:r>
            <a:r>
              <a:rPr lang="en-US" b="1" dirty="0">
                <a:solidFill>
                  <a:srgbClr val="FFFFFF"/>
                </a:solidFill>
              </a:rPr>
              <a:t>B</a:t>
            </a:r>
            <a:r>
              <a:rPr lang="en-US" sz="1800" b="1" dirty="0">
                <a:solidFill>
                  <a:srgbClr val="FFFFFF"/>
                </a:solidFill>
              </a:rPr>
              <a:t> — </a:t>
            </a:r>
            <a:r>
              <a:rPr lang="en-US" b="1" dirty="0">
                <a:solidFill>
                  <a:srgbClr val="FFFFFF"/>
                </a:solidFill>
              </a:rPr>
              <a:t>Data Tables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9CD0CE-DE2B-BDF8-587D-4E139FBDA57B}"/>
              </a:ext>
            </a:extLst>
          </p:cNvPr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51B831-E614-BABE-B9AD-00494484CAD9}"/>
              </a:ext>
            </a:extLst>
          </p:cNvPr>
          <p:cNvSpPr/>
          <p:nvPr/>
        </p:nvSpPr>
        <p:spPr>
          <a:xfrm>
            <a:off x="1371600" y="658368"/>
            <a:ext cx="64008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Customers Table — Data View (5 rows)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BE8271A-50CE-87FD-B2C6-A4A05385A0D1}"/>
              </a:ext>
            </a:extLst>
          </p:cNvPr>
          <p:cNvSpPr/>
          <p:nvPr/>
        </p:nvSpPr>
        <p:spPr>
          <a:xfrm>
            <a:off x="1371600" y="950976"/>
            <a:ext cx="6400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B822C67-44C5-BE09-35C8-F3430D27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02080" y="1019556"/>
            <a:ext cx="635508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03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 C — Model Relationship Diagram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658368"/>
            <a:ext cx="6400800" cy="277454"/>
          </a:xfrm>
          <a:prstGeom prst="rect">
            <a:avLst/>
          </a:prstGeom>
          <a:solidFill>
            <a:srgbClr val="0D7C7C"/>
          </a:solidFill>
          <a:ln w="12700">
            <a:solidFill>
              <a:srgbClr val="0D7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6400800" cy="277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View — Table Relationships Diagram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950976"/>
            <a:ext cx="6400800" cy="381498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320" y="1005841"/>
            <a:ext cx="6309360" cy="37109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7A8A"/>
                </a:solidFill>
              </a:rPr>
              <a:t>The model establishes two 1-to-many relationships: Cookie Types → Orders (via Product) and Customers → Orders (via Customer ID). These relationships enable RELATED() lookups and cross-table DAX measures.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1483</Words>
  <Application>Microsoft Office PowerPoint</Application>
  <PresentationFormat>On-screen Show (16:9)</PresentationFormat>
  <Paragraphs>165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LW5 – Applying DAX Fundamentals in Power BI</dc:title>
  <dc:subject>PptxGenJS Presentation</dc:subject>
  <dc:creator>PptxGenJS</dc:creator>
  <cp:lastModifiedBy>Dianah Myra Salazar</cp:lastModifiedBy>
  <cp:revision>1</cp:revision>
  <dcterms:created xsi:type="dcterms:W3CDTF">2026-04-24T10:13:51Z</dcterms:created>
  <dcterms:modified xsi:type="dcterms:W3CDTF">2026-04-24T10:29:54Z</dcterms:modified>
</cp:coreProperties>
</file>